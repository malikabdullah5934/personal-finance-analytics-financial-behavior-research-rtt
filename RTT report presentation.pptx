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7" r:id="rId4"/>
    <p:sldId id="258" r:id="rId5"/>
    <p:sldId id="268" r:id="rId6"/>
    <p:sldId id="262" r:id="rId7"/>
    <p:sldId id="263" r:id="rId8"/>
    <p:sldId id="264" r:id="rId9"/>
    <p:sldId id="269" r:id="rId10"/>
    <p:sldId id="265" r:id="rId11"/>
    <p:sldId id="266" r:id="rId12"/>
  </p:sldIdLst>
  <p:sldSz cx="14630400" cy="8229600"/>
  <p:notesSz cx="8229600" cy="14630400"/>
  <p:embeddedFontLst>
    <p:embeddedFont>
      <p:font typeface="Source Sans Pro" panose="020B0503030403020204" pitchFamily="34" charset="0"/>
      <p:regular r:id="rId14"/>
      <p:bold r:id="rId15"/>
      <p:italic r:id="rId16"/>
      <p:boldItalic r:id="rId17"/>
    </p:embeddedFont>
  </p:embeddedFontLst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43" autoAdjust="0"/>
    <p:restoredTop sz="94610"/>
  </p:normalViewPr>
  <p:slideViewPr>
    <p:cSldViewPr snapToGrid="0" snapToObjects="1">
      <p:cViewPr>
        <p:scale>
          <a:sx n="70" d="100"/>
          <a:sy n="70" d="100"/>
        </p:scale>
        <p:origin x="493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471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87289-DBB7-1CC1-5755-646EC1B1D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3A3B45-8C06-68A9-6557-902BE02555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D0ADA4-5C74-E83A-2A76-AD69CA71F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E67A6-C3CE-A5B1-F625-DC0746A839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268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643D4-62B9-17AF-E253-F1D30F656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6DF102-78BF-725E-8EC2-DA6C0179B9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5EBAAD-5E0A-BD5C-95E3-1CF3BA2F6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55E23-9761-2CCA-A8EE-55BF0C7988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3123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69938" y="3191827"/>
            <a:ext cx="7776924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Analysis of financial patterns among 121 university student survey participants.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169938" y="4415314"/>
            <a:ext cx="7776924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Submitted by: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69938" y="4927878"/>
            <a:ext cx="7776924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Abdullah Bin Masood (SP23-BBD-004)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169938" y="5289113"/>
            <a:ext cx="7776924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Maaz Ghazi (SP23-BBD-028)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169938" y="5650349"/>
            <a:ext cx="7776924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Aleesha Malik (SP23-BBD-009)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169938" y="6011585"/>
            <a:ext cx="7776924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Abdur Rehman (SP23-BBD-005)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69938" y="6372820"/>
            <a:ext cx="7776924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Maryam Aslam (SP23-BBD-031)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169938" y="7031831"/>
            <a:ext cx="7776924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Submitted to:</a:t>
            </a:r>
            <a:r>
              <a:rPr lang="en-US" sz="15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Uzma Naeem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169938" y="7397948"/>
            <a:ext cx="7776924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University:</a:t>
            </a:r>
            <a:r>
              <a:rPr lang="en-US" sz="15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COMSATS University</a:t>
            </a:r>
            <a:endParaRPr lang="en-US" sz="15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83CD85-4546-EEED-7CF6-B1CC5C02E557}"/>
              </a:ext>
            </a:extLst>
          </p:cNvPr>
          <p:cNvSpPr txBox="1"/>
          <p:nvPr/>
        </p:nvSpPr>
        <p:spPr>
          <a:xfrm>
            <a:off x="6096000" y="1604073"/>
            <a:ext cx="7315200" cy="43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Finances Research Report</a:t>
            </a:r>
            <a:endParaRPr lang="en-US" sz="4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25EEF1-3C5D-FB9A-11CA-C68E2F5CBA89}"/>
              </a:ext>
            </a:extLst>
          </p:cNvPr>
          <p:cNvSpPr txBox="1"/>
          <p:nvPr/>
        </p:nvSpPr>
        <p:spPr>
          <a:xfrm>
            <a:off x="6096000" y="713129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accent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Research Title: </a:t>
            </a:r>
            <a:r>
              <a:rPr lang="en-US" sz="4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Personal </a:t>
            </a:r>
            <a:endParaRPr lang="en-PK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71A3FF8-442B-298E-60F3-2AEF269D8849}"/>
              </a:ext>
            </a:extLst>
          </p:cNvPr>
          <p:cNvSpPr/>
          <p:nvPr/>
        </p:nvSpPr>
        <p:spPr>
          <a:xfrm>
            <a:off x="7220606" y="0"/>
            <a:ext cx="7409793" cy="822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ext 0"/>
          <p:cNvSpPr/>
          <p:nvPr/>
        </p:nvSpPr>
        <p:spPr>
          <a:xfrm>
            <a:off x="863798" y="1158121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Introduction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47638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Study Overview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834136" y="2476380"/>
            <a:ext cx="3239691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ysClr val="windowText" lastClr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Research Variables</a:t>
            </a:r>
            <a:endParaRPr lang="en-US" sz="2200" dirty="0">
              <a:solidFill>
                <a:sysClr val="windowText" lastClr="00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834136" y="3282999"/>
            <a:ext cx="6150293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ysClr val="windowText" lastClr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Understanding how students manage money independently provides valuable insights for effective financial education.</a:t>
            </a:r>
            <a:endParaRPr lang="en-US" sz="1900" dirty="0">
              <a:solidFill>
                <a:sysClr val="windowText" lastClr="0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1C6CD9-63DE-85D2-041A-2F2BDBBD59DC}"/>
              </a:ext>
            </a:extLst>
          </p:cNvPr>
          <p:cNvSpPr txBox="1"/>
          <p:nvPr/>
        </p:nvSpPr>
        <p:spPr>
          <a:xfrm>
            <a:off x="749216" y="3282999"/>
            <a:ext cx="58389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Our research</a:t>
            </a:r>
            <a:r>
              <a:rPr lang="en-US" sz="20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 examines the financial habits of </a:t>
            </a:r>
            <a:r>
              <a:rPr lang="en-US" sz="2000" b="1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university students</a:t>
            </a:r>
            <a:r>
              <a:rPr lang="en-US" sz="20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, focusing on their ability to manage pocket money and make informed financial decisions. </a:t>
            </a:r>
          </a:p>
          <a:p>
            <a:endParaRPr lang="en-US" sz="2000" dirty="0">
              <a:solidFill>
                <a:schemeClr val="bg1"/>
              </a:solidFill>
              <a:latin typeface="Aptos" panose="020B000402020202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It includes 121 responses, with data on “age, semester, gender, living status, pocket money range, and various spending categories like public transport, gasoline, rent, and mobile bills. </a:t>
            </a:r>
            <a:endParaRPr lang="en-PK" sz="20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A0ABDA-0673-0654-E924-75AC3E840C8C}"/>
              </a:ext>
            </a:extLst>
          </p:cNvPr>
          <p:cNvSpPr txBox="1"/>
          <p:nvPr/>
        </p:nvSpPr>
        <p:spPr>
          <a:xfrm>
            <a:off x="7834136" y="4409340"/>
            <a:ext cx="7315200" cy="1816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Spending Pocket Money.</a:t>
            </a:r>
            <a:endParaRPr lang="en-PK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Pocket money.</a:t>
            </a:r>
            <a:endParaRPr lang="en-PK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Living Status.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Budgeting Pocket Money</a:t>
            </a:r>
            <a:endParaRPr lang="en-PK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1CED1D-38B3-E1A8-3C97-5851E6FE2547}"/>
              </a:ext>
            </a:extLst>
          </p:cNvPr>
          <p:cNvSpPr txBox="1"/>
          <p:nvPr/>
        </p:nvSpPr>
        <p:spPr>
          <a:xfrm>
            <a:off x="630621" y="2844367"/>
            <a:ext cx="7872248" cy="4772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342900">
              <a:lnSpc>
                <a:spcPct val="107000"/>
              </a:lnSpc>
              <a:spcAft>
                <a:spcPts val="8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0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Most of the university students experience difficulties while managing their pocket money due to low financial education, low budgeting and not keeping a proper track of their spendings. </a:t>
            </a:r>
          </a:p>
          <a:p>
            <a:pPr marL="571500" indent="-342900">
              <a:lnSpc>
                <a:spcPct val="107000"/>
              </a:lnSpc>
              <a:spcAft>
                <a:spcPts val="8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sz="2000" kern="100" dirty="0">
              <a:solidFill>
                <a:schemeClr val="bg1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71500" indent="-342900">
              <a:lnSpc>
                <a:spcPct val="107000"/>
              </a:lnSpc>
              <a:spcAft>
                <a:spcPts val="8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0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Student budgets often fall short well before the month ends, forcing them to take short-term measures to pay for their expenses. Personal factors like age, gender, semester and livelihood can influence a student's financial confidence and decision making. </a:t>
            </a:r>
          </a:p>
          <a:p>
            <a:pPr marL="571500" indent="-342900">
              <a:lnSpc>
                <a:spcPct val="107000"/>
              </a:lnSpc>
              <a:spcAft>
                <a:spcPts val="8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sz="2000" kern="100" dirty="0">
              <a:solidFill>
                <a:schemeClr val="bg1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71500" indent="-342900">
              <a:lnSpc>
                <a:spcPct val="107000"/>
              </a:lnSpc>
              <a:spcAft>
                <a:spcPts val="8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0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students, it is also important to understand these patterns and develop effective financial management strategies so they can identify the main difficulties in saving money</a:t>
            </a:r>
            <a:r>
              <a:rPr lang="en-US" sz="20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.</a:t>
            </a:r>
            <a:endParaRPr lang="en-PK" sz="20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5AFC3090-D583-AD51-C069-8FD9FDFD09B3}"/>
              </a:ext>
            </a:extLst>
          </p:cNvPr>
          <p:cNvSpPr/>
          <p:nvPr/>
        </p:nvSpPr>
        <p:spPr>
          <a:xfrm>
            <a:off x="863798" y="874343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 Statement</a:t>
            </a:r>
            <a:endParaRPr lang="en-US" sz="44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1902609B-0278-5352-18D6-A99D8859471C}"/>
              </a:ext>
            </a:extLst>
          </p:cNvPr>
          <p:cNvSpPr/>
          <p:nvPr/>
        </p:nvSpPr>
        <p:spPr>
          <a:xfrm>
            <a:off x="958391" y="1841294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2400" dirty="0">
                <a:solidFill>
                  <a:schemeClr val="accent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Why there is a need for this research?</a:t>
            </a:r>
            <a:endParaRPr lang="en-US" sz="2400" dirty="0">
              <a:solidFill>
                <a:schemeClr val="accent2"/>
              </a:solidFill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838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37093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Literature Review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1932004"/>
            <a:ext cx="555308" cy="55530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1665923" y="2016777"/>
            <a:ext cx="3293150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Financial Literacy and Behavior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65923" y="2687376"/>
            <a:ext cx="3293150" cy="1850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Financial literacy significantly influences saving behaviors, budgeting practices, and debt control mechanisms among students (Ansong, 2011).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267563" y="1932004"/>
            <a:ext cx="555308" cy="55530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6069687" y="2016777"/>
            <a:ext cx="3293150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Education and Spending Patterns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69687" y="2687376"/>
            <a:ext cx="3293150" cy="2220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Research by Zimmerman &amp; Katon (2005) demonstrates that insufficient financial education often leads to impulsive spending behaviors and poor financial decision-making.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71328" y="1932004"/>
            <a:ext cx="555308" cy="55530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10473452" y="2016777"/>
            <a:ext cx="3293150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Planning and Financial Stress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473452" y="2687376"/>
            <a:ext cx="3293150" cy="1850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University students frequently experience financial stress and anxiety directly attributable to inadequate financial planning and management skills.</a:t>
            </a:r>
            <a:endParaRPr lang="en-US" sz="1600" dirty="0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710D33DD-4E49-E6CF-DECB-636D44DD0B6B}"/>
              </a:ext>
            </a:extLst>
          </p:cNvPr>
          <p:cNvSpPr/>
          <p:nvPr/>
        </p:nvSpPr>
        <p:spPr>
          <a:xfrm>
            <a:off x="863798" y="4609694"/>
            <a:ext cx="555308" cy="55530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7205E8C8-A363-377B-4EF5-DC9D83CFA230}"/>
              </a:ext>
            </a:extLst>
          </p:cNvPr>
          <p:cNvSpPr/>
          <p:nvPr/>
        </p:nvSpPr>
        <p:spPr>
          <a:xfrm>
            <a:off x="5267563" y="4609694"/>
            <a:ext cx="555308" cy="55530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77682284-4026-027E-FCC2-966E27A2BCB0}"/>
              </a:ext>
            </a:extLst>
          </p:cNvPr>
          <p:cNvSpPr/>
          <p:nvPr/>
        </p:nvSpPr>
        <p:spPr>
          <a:xfrm>
            <a:off x="9671328" y="4609694"/>
            <a:ext cx="555308" cy="55530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9A37124B-6CED-7936-250F-93264684EA16}"/>
              </a:ext>
            </a:extLst>
          </p:cNvPr>
          <p:cNvSpPr/>
          <p:nvPr/>
        </p:nvSpPr>
        <p:spPr>
          <a:xfrm>
            <a:off x="1717087" y="4580001"/>
            <a:ext cx="2181820" cy="931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Women's Financial Behavior</a:t>
            </a:r>
            <a:endParaRPr lang="en-US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B0C24EEB-87FD-D4CB-7403-B2D527DE3853}"/>
              </a:ext>
            </a:extLst>
          </p:cNvPr>
          <p:cNvSpPr/>
          <p:nvPr/>
        </p:nvSpPr>
        <p:spPr>
          <a:xfrm>
            <a:off x="1717086" y="5295957"/>
            <a:ext cx="2613175" cy="1640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Female students reported higher levels of financial anxiety and stress regarding their monetary decisions.</a:t>
            </a:r>
            <a:endParaRPr lang="en-US" sz="16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023D031-B808-6D8C-0161-B214474A6448}"/>
              </a:ext>
            </a:extLst>
          </p:cNvPr>
          <p:cNvSpPr/>
          <p:nvPr/>
        </p:nvSpPr>
        <p:spPr>
          <a:xfrm>
            <a:off x="1717087" y="6446949"/>
            <a:ext cx="2181820" cy="1312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This anxiety persisted despite careful financial planning behaviors (Hira &amp; Mugenda, 2000).</a:t>
            </a:r>
            <a:endParaRPr lang="en-US" sz="16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F4418347-2EBE-189D-6584-04EDEDFDC0EC}"/>
              </a:ext>
            </a:extLst>
          </p:cNvPr>
          <p:cNvSpPr/>
          <p:nvPr/>
        </p:nvSpPr>
        <p:spPr>
          <a:xfrm>
            <a:off x="6079371" y="4580001"/>
            <a:ext cx="2181820" cy="62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Men's Financial Behavior</a:t>
            </a:r>
            <a:endParaRPr lang="en-US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D38B6F4E-0692-D4F8-D5E7-EAAD1156F60A}"/>
              </a:ext>
            </a:extLst>
          </p:cNvPr>
          <p:cNvSpPr/>
          <p:nvPr/>
        </p:nvSpPr>
        <p:spPr>
          <a:xfrm>
            <a:off x="6079371" y="5419630"/>
            <a:ext cx="3283466" cy="1312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Male students demonstrated greater confidence in financial decision-making.</a:t>
            </a:r>
            <a:endParaRPr lang="en-US" sz="16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2242FE00-DA1C-AFEB-F5D2-7A65E6D16362}"/>
              </a:ext>
            </a:extLst>
          </p:cNvPr>
          <p:cNvSpPr/>
          <p:nvPr/>
        </p:nvSpPr>
        <p:spPr>
          <a:xfrm>
            <a:off x="6069686" y="6446949"/>
            <a:ext cx="3694423" cy="1968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However, they expressed more dissatisfaction with their savings rates and accumulation (Hira &amp; Mugenda, 2000).</a:t>
            </a:r>
            <a:endParaRPr lang="en-US" sz="16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A2AFABA8-4898-ACDA-8D47-A4D9D165C4F5}"/>
              </a:ext>
            </a:extLst>
          </p:cNvPr>
          <p:cNvSpPr/>
          <p:nvPr/>
        </p:nvSpPr>
        <p:spPr>
          <a:xfrm>
            <a:off x="10535127" y="4580001"/>
            <a:ext cx="2181820" cy="62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Academic Major Impact</a:t>
            </a:r>
            <a:endParaRPr lang="en-US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6C2A9C28-85FC-23A6-0792-4F8E9EFFC6D1}"/>
              </a:ext>
            </a:extLst>
          </p:cNvPr>
          <p:cNvSpPr/>
          <p:nvPr/>
        </p:nvSpPr>
        <p:spPr>
          <a:xfrm>
            <a:off x="10535127" y="5419630"/>
            <a:ext cx="3293150" cy="1640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Business majors consistently showed higher financial literacy scores than their non-business counterparts.</a:t>
            </a:r>
            <a:endParaRPr lang="en-US" sz="16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D0573580-7C39-F6BC-E30B-F366905D4E71}"/>
              </a:ext>
            </a:extLst>
          </p:cNvPr>
          <p:cNvSpPr/>
          <p:nvPr/>
        </p:nvSpPr>
        <p:spPr>
          <a:xfrm>
            <a:off x="10535127" y="6301057"/>
            <a:ext cx="3293150" cy="1640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This advantage translates to more effective money management practices (Volpe et al., 1996).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F8486-8A14-6097-DB4E-18EEDE874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15C30CC-918B-5CC4-1C81-79C63AE6F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26061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543C14B-2DBE-08C5-9578-25CB3C32C6C9}"/>
              </a:ext>
            </a:extLst>
          </p:cNvPr>
          <p:cNvSpPr/>
          <p:nvPr/>
        </p:nvSpPr>
        <p:spPr>
          <a:xfrm>
            <a:off x="5130998" y="678530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THEORETICAL FRAMEWORK </a:t>
            </a:r>
            <a:endParaRPr lang="en-US" sz="44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06DDA63-B438-F962-946D-308FCDFC5641}"/>
              </a:ext>
            </a:extLst>
          </p:cNvPr>
          <p:cNvGrpSpPr/>
          <p:nvPr/>
        </p:nvGrpSpPr>
        <p:grpSpPr>
          <a:xfrm>
            <a:off x="4892580" y="3163615"/>
            <a:ext cx="9101565" cy="3693248"/>
            <a:chOff x="5870257" y="3755072"/>
            <a:chExt cx="6419850" cy="20701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C51233C-72AC-9A7A-34FF-718F1B7034F2}"/>
                </a:ext>
              </a:extLst>
            </p:cNvPr>
            <p:cNvSpPr/>
            <p:nvPr/>
          </p:nvSpPr>
          <p:spPr>
            <a:xfrm>
              <a:off x="5870257" y="3763327"/>
              <a:ext cx="1264920" cy="71945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b="1" u="sng" kern="100">
                  <a:solidFill>
                    <a:srgbClr val="000000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Independent Variable</a:t>
              </a:r>
              <a:endParaRPr lang="en-PK" sz="2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sz="1400" kern="100">
                  <a:solidFill>
                    <a:srgbClr val="000000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Pocket Money</a:t>
              </a:r>
              <a:endParaRPr lang="en-PK" sz="2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BE8218B-266A-1E37-C619-1E4BC0172222}"/>
                </a:ext>
              </a:extLst>
            </p:cNvPr>
            <p:cNvSpPr/>
            <p:nvPr/>
          </p:nvSpPr>
          <p:spPr>
            <a:xfrm>
              <a:off x="11025187" y="3763327"/>
              <a:ext cx="1264920" cy="71945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b="1" u="sng" kern="100" dirty="0">
                  <a:solidFill>
                    <a:srgbClr val="000000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Dependent Variable</a:t>
              </a:r>
              <a:endParaRPr lang="en-PK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solidFill>
                    <a:srgbClr val="000000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Spending Pocket Money</a:t>
              </a:r>
              <a:endParaRPr lang="en-PK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Parallelogram 25">
              <a:extLst>
                <a:ext uri="{FF2B5EF4-FFF2-40B4-BE49-F238E27FC236}">
                  <a16:creationId xmlns:a16="http://schemas.microsoft.com/office/drawing/2014/main" id="{A517E5C7-0F0E-5B5C-1DEF-48011F2B9940}"/>
                </a:ext>
              </a:extLst>
            </p:cNvPr>
            <p:cNvSpPr/>
            <p:nvPr/>
          </p:nvSpPr>
          <p:spPr>
            <a:xfrm>
              <a:off x="8313102" y="3755072"/>
              <a:ext cx="1894205" cy="719455"/>
            </a:xfrm>
            <a:prstGeom prst="parallelogram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b="1" u="sng" kern="100">
                  <a:solidFill>
                    <a:srgbClr val="000000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Mediator</a:t>
              </a:r>
              <a:endParaRPr lang="en-PK" sz="2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400" kern="100">
                  <a:solidFill>
                    <a:srgbClr val="000000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Budgeting Pocket Money </a:t>
              </a:r>
              <a:endParaRPr lang="en-PK" sz="2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C00D3C8-546A-03F9-8F1F-A94F4175D625}"/>
                </a:ext>
              </a:extLst>
            </p:cNvPr>
            <p:cNvCxnSpPr/>
            <p:nvPr/>
          </p:nvCxnSpPr>
          <p:spPr>
            <a:xfrm>
              <a:off x="7142797" y="4053522"/>
              <a:ext cx="1247775" cy="0"/>
            </a:xfrm>
            <a:prstGeom prst="straightConnector1">
              <a:avLst/>
            </a:prstGeom>
            <a:ln w="127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4392C17-0434-A811-C73E-64E7CC59B963}"/>
                </a:ext>
              </a:extLst>
            </p:cNvPr>
            <p:cNvCxnSpPr/>
            <p:nvPr/>
          </p:nvCxnSpPr>
          <p:spPr>
            <a:xfrm flipV="1">
              <a:off x="10133012" y="4052887"/>
              <a:ext cx="888365" cy="5715"/>
            </a:xfrm>
            <a:prstGeom prst="straightConnector1">
              <a:avLst/>
            </a:prstGeom>
            <a:ln w="127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22DE821-D6C9-BCBA-FC29-74AC8AF736EE}"/>
                </a:ext>
              </a:extLst>
            </p:cNvPr>
            <p:cNvCxnSpPr/>
            <p:nvPr/>
          </p:nvCxnSpPr>
          <p:spPr>
            <a:xfrm flipV="1">
              <a:off x="7701597" y="4064317"/>
              <a:ext cx="0" cy="974090"/>
            </a:xfrm>
            <a:prstGeom prst="straightConnector1">
              <a:avLst/>
            </a:prstGeom>
            <a:ln w="127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Diamond 29">
              <a:extLst>
                <a:ext uri="{FF2B5EF4-FFF2-40B4-BE49-F238E27FC236}">
                  <a16:creationId xmlns:a16="http://schemas.microsoft.com/office/drawing/2014/main" id="{2E3CF9D4-D493-C8E1-4362-92CD5BF25450}"/>
                </a:ext>
              </a:extLst>
            </p:cNvPr>
            <p:cNvSpPr/>
            <p:nvPr/>
          </p:nvSpPr>
          <p:spPr>
            <a:xfrm>
              <a:off x="6864667" y="4451667"/>
              <a:ext cx="1673860" cy="1373505"/>
            </a:xfrm>
            <a:prstGeom prst="diamond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b="1" u="sng" kern="100">
                  <a:solidFill>
                    <a:srgbClr val="000000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Moderator</a:t>
              </a:r>
              <a:endParaRPr lang="en-PK" sz="2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sz="1400" kern="100">
                  <a:solidFill>
                    <a:srgbClr val="000000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 Living status of student</a:t>
              </a:r>
              <a:endParaRPr lang="en-PK" sz="2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4519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59324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HYPOTHESIS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80480" y="2871192"/>
            <a:ext cx="370653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H1: Pocket Money 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3798" y="3369826"/>
            <a:ext cx="3823216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More pocket money leads to increased spending behaviors</a:t>
            </a:r>
            <a:endParaRPr lang="en-US" sz="1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180" y="2454235"/>
            <a:ext cx="4515922" cy="451592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1611" y="3188137"/>
            <a:ext cx="369213" cy="4616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43267" y="2871192"/>
            <a:ext cx="380750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H2: Spending Pocket Money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43267" y="3369826"/>
            <a:ext cx="3823335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Independent living results in higher overall spending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7180" y="2454235"/>
            <a:ext cx="4515922" cy="451592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553" y="3572470"/>
            <a:ext cx="369213" cy="46160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43267" y="5314236"/>
            <a:ext cx="358032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H3: Budgeting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43267" y="5812869"/>
            <a:ext cx="3823335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Regular budgeting practices improve spending control</a:t>
            </a:r>
            <a:endParaRPr lang="en-US" sz="1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7180" y="2454235"/>
            <a:ext cx="4515922" cy="4515922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9219" y="5774412"/>
            <a:ext cx="369213" cy="46160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457682" y="5314236"/>
            <a:ext cx="322933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H4: Living Status of student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863798" y="5812869"/>
            <a:ext cx="3823216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Living status influences how budgeting affects spending</a:t>
            </a:r>
            <a:endParaRPr lang="en-US" sz="19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7180" y="2454235"/>
            <a:ext cx="4515922" cy="4515922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7277" y="5390078"/>
            <a:ext cx="369213" cy="4616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26820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Research Design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2852654"/>
            <a:ext cx="6328053" cy="1362432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1110615" y="309947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Type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0615" y="3598105"/>
            <a:ext cx="583442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Quantitative, descriptive, correlational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438668" y="2852654"/>
            <a:ext cx="6328053" cy="1362432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7685484" y="309947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Sample Size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85484" y="3598105"/>
            <a:ext cx="583442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121 university students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63798" y="4461903"/>
            <a:ext cx="6328053" cy="1362432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1110615" y="4708720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Tool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10615" y="5207353"/>
            <a:ext cx="583442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Questionnaire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438668" y="4461903"/>
            <a:ext cx="6328053" cy="1362432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7685484" y="4708720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Sampling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484" y="5207353"/>
            <a:ext cx="583442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Stratified random sampling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63798" y="6071152"/>
            <a:ext cx="6328053" cy="1362432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110615" y="631796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Analysis Tools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10615" y="6816602"/>
            <a:ext cx="583442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Google Spread Sheets, Excel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438668" y="6071152"/>
            <a:ext cx="6328053" cy="1362432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7685484" y="631796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Techniques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685484" y="6816602"/>
            <a:ext cx="583442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Descriptive statistics, correlation, regression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315045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Demographics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63798" y="2139792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Profile of survey respondents (n=121)</a:t>
            </a:r>
            <a:endParaRPr lang="en-US" sz="1900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F1166F95-CA1C-0FDD-01D0-4AA4B915B8FA}"/>
              </a:ext>
            </a:extLst>
          </p:cNvPr>
          <p:cNvSpPr/>
          <p:nvPr/>
        </p:nvSpPr>
        <p:spPr>
          <a:xfrm>
            <a:off x="863798" y="827634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Results</a:t>
            </a:r>
            <a:endParaRPr lang="en-US" sz="4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2F3151-BDA2-8746-C3DA-C045ABAFF774}"/>
              </a:ext>
            </a:extLst>
          </p:cNvPr>
          <p:cNvSpPr txBox="1"/>
          <p:nvPr/>
        </p:nvSpPr>
        <p:spPr>
          <a:xfrm>
            <a:off x="863798" y="2903117"/>
            <a:ext cx="7315200" cy="1561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</a:pPr>
            <a:r>
              <a:rPr lang="en-US" sz="1800" b="1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Age Group:</a:t>
            </a:r>
            <a:endParaRPr lang="en-PK" sz="1800" kern="100" dirty="0">
              <a:solidFill>
                <a:schemeClr val="accent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 </a:t>
            </a:r>
            <a:endParaRPr lang="en-PK" sz="1800" kern="100" dirty="0">
              <a:solidFill>
                <a:schemeClr val="accent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20-22 </a:t>
            </a: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         	 64</a:t>
            </a:r>
            <a:endParaRPr lang="en-PK" sz="1800" kern="100" dirty="0">
              <a:solidFill>
                <a:schemeClr val="accent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17-19 </a:t>
            </a: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          	47</a:t>
            </a:r>
            <a:endParaRPr lang="en-PK" sz="1800" kern="100" dirty="0">
              <a:solidFill>
                <a:schemeClr val="accent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23 or above</a:t>
            </a: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   9</a:t>
            </a:r>
            <a:endParaRPr lang="en-PK" sz="1800" kern="100" dirty="0">
              <a:solidFill>
                <a:schemeClr val="accent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Forms response chart. Question title: Age&#10;. Number of responses: 120 responses.">
            <a:extLst>
              <a:ext uri="{FF2B5EF4-FFF2-40B4-BE49-F238E27FC236}">
                <a16:creationId xmlns:a16="http://schemas.microsoft.com/office/drawing/2014/main" id="{42DF562F-225E-B01E-310D-B0A434BED7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465"/>
          <a:stretch/>
        </p:blipFill>
        <p:spPr bwMode="auto">
          <a:xfrm>
            <a:off x="863798" y="4857795"/>
            <a:ext cx="5389857" cy="2887321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D08FD63-38AE-4094-24D7-72B965FC767E}"/>
              </a:ext>
            </a:extLst>
          </p:cNvPr>
          <p:cNvSpPr txBox="1"/>
          <p:nvPr/>
        </p:nvSpPr>
        <p:spPr>
          <a:xfrm>
            <a:off x="7315200" y="2903117"/>
            <a:ext cx="7315200" cy="1561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</a:pPr>
            <a:r>
              <a:rPr lang="en-US" sz="1800" b="1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Gender:</a:t>
            </a:r>
            <a:endParaRPr lang="en-PK" sz="1800" kern="100" dirty="0">
              <a:solidFill>
                <a:schemeClr val="accent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US" sz="1800" u="none" strike="noStrike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 </a:t>
            </a:r>
            <a:endParaRPr lang="en-PK" sz="1800" kern="100" dirty="0">
              <a:solidFill>
                <a:schemeClr val="accent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Male </a:t>
            </a: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                 	  68</a:t>
            </a:r>
            <a:endParaRPr lang="en-PK" sz="1800" kern="100" dirty="0">
              <a:solidFill>
                <a:schemeClr val="accent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Female</a:t>
            </a: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             	  50</a:t>
            </a:r>
            <a:endParaRPr lang="en-PK" sz="1800" kern="100" dirty="0">
              <a:solidFill>
                <a:schemeClr val="accent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Prefer not to say </a:t>
            </a: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    2</a:t>
            </a:r>
            <a:endParaRPr lang="en-PK" sz="1800" kern="100" dirty="0">
              <a:solidFill>
                <a:schemeClr val="accent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Forms response chart. Question title: Gender:&#10;. Number of responses: 120 responses.">
            <a:extLst>
              <a:ext uri="{FF2B5EF4-FFF2-40B4-BE49-F238E27FC236}">
                <a16:creationId xmlns:a16="http://schemas.microsoft.com/office/drawing/2014/main" id="{6BBB5767-A5FC-5AC3-8882-BA14CB445B0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417"/>
          <a:stretch/>
        </p:blipFill>
        <p:spPr bwMode="auto">
          <a:xfrm>
            <a:off x="7315199" y="4857794"/>
            <a:ext cx="5389857" cy="2887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A8F18-EB2D-7BC0-80FB-4A71CB8C4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138371-6C95-8E9F-9D7B-057047548754}"/>
              </a:ext>
            </a:extLst>
          </p:cNvPr>
          <p:cNvSpPr/>
          <p:nvPr/>
        </p:nvSpPr>
        <p:spPr>
          <a:xfrm>
            <a:off x="863798" y="1315045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Demographics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FD0D758-8339-8309-000A-64BE08951F72}"/>
              </a:ext>
            </a:extLst>
          </p:cNvPr>
          <p:cNvSpPr/>
          <p:nvPr/>
        </p:nvSpPr>
        <p:spPr>
          <a:xfrm>
            <a:off x="863798" y="2139792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Profile of survey respondents (n=121)</a:t>
            </a:r>
            <a:endParaRPr lang="en-US" sz="1900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E5B07F3D-C1A5-D3BA-4E55-00797FC4C54D}"/>
              </a:ext>
            </a:extLst>
          </p:cNvPr>
          <p:cNvSpPr/>
          <p:nvPr/>
        </p:nvSpPr>
        <p:spPr>
          <a:xfrm>
            <a:off x="863798" y="827634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Results</a:t>
            </a:r>
            <a:endParaRPr lang="en-US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440591-BDB7-6B55-D6FA-DEBB231C700A}"/>
              </a:ext>
            </a:extLst>
          </p:cNvPr>
          <p:cNvSpPr txBox="1"/>
          <p:nvPr/>
        </p:nvSpPr>
        <p:spPr>
          <a:xfrm>
            <a:off x="7315200" y="1665684"/>
            <a:ext cx="7315200" cy="1561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</a:pPr>
            <a:r>
              <a:rPr lang="en-US" sz="1800" b="1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Pocket Money Range</a:t>
            </a:r>
            <a:r>
              <a:rPr lang="en-US" sz="1800" b="1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:</a:t>
            </a:r>
            <a:endParaRPr lang="en-PK" sz="1800" kern="100" dirty="0">
              <a:solidFill>
                <a:schemeClr val="accent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US" sz="1800" u="none" strike="noStrike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 </a:t>
            </a:r>
            <a:endParaRPr lang="en-PK" sz="1800" kern="100" dirty="0">
              <a:solidFill>
                <a:schemeClr val="accent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below 10 </a:t>
            </a: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	 55 </a:t>
            </a:r>
            <a:endParaRPr lang="en-PK" sz="1800" kern="100" dirty="0">
              <a:solidFill>
                <a:schemeClr val="accent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11k - 20k </a:t>
            </a: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 	38</a:t>
            </a:r>
            <a:endParaRPr lang="en-PK" sz="1800" kern="100" dirty="0">
              <a:solidFill>
                <a:schemeClr val="accent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21 or above </a:t>
            </a: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 	27</a:t>
            </a:r>
            <a:endParaRPr lang="en-PK" sz="1800" kern="100" dirty="0">
              <a:solidFill>
                <a:schemeClr val="accent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28617C-EDB5-6FDD-030A-D1F6D016224D}"/>
              </a:ext>
            </a:extLst>
          </p:cNvPr>
          <p:cNvSpPr txBox="1"/>
          <p:nvPr/>
        </p:nvSpPr>
        <p:spPr>
          <a:xfrm>
            <a:off x="863798" y="3051298"/>
            <a:ext cx="4076064" cy="1265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</a:pPr>
            <a:r>
              <a:rPr lang="en-US" sz="1800" b="1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Living Status:</a:t>
            </a:r>
            <a:endParaRPr lang="en-PK" sz="1800" kern="100" dirty="0">
              <a:solidFill>
                <a:schemeClr val="accent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US" sz="1800" strike="noStrike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 </a:t>
            </a:r>
            <a:endParaRPr lang="en-PK" sz="1800" kern="100" dirty="0">
              <a:solidFill>
                <a:schemeClr val="accent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Hosteller 	</a:t>
            </a: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  	72 </a:t>
            </a:r>
            <a:endParaRPr lang="en-PK" sz="1800" kern="100" dirty="0">
              <a:solidFill>
                <a:schemeClr val="accent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Day Scholar 	</a:t>
            </a: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1800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	48</a:t>
            </a:r>
            <a:endParaRPr lang="en-PK" sz="1800" kern="100" dirty="0">
              <a:solidFill>
                <a:schemeClr val="accent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Forms response chart. Question title: What is your living status:&#10;. Number of responses: 120 responses.">
            <a:extLst>
              <a:ext uri="{FF2B5EF4-FFF2-40B4-BE49-F238E27FC236}">
                <a16:creationId xmlns:a16="http://schemas.microsoft.com/office/drawing/2014/main" id="{6C2D29FD-C36C-7D40-497B-D491E544BA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452"/>
          <a:stretch/>
        </p:blipFill>
        <p:spPr bwMode="auto">
          <a:xfrm>
            <a:off x="863798" y="4857794"/>
            <a:ext cx="5389857" cy="2887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 descr="A graph showing a pocket money range&#10;&#10;Description automatically generated">
            <a:extLst>
              <a:ext uri="{FF2B5EF4-FFF2-40B4-BE49-F238E27FC236}">
                <a16:creationId xmlns:a16="http://schemas.microsoft.com/office/drawing/2014/main" id="{2814FA62-736A-5991-F30B-DDD97E8CB6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3580491"/>
            <a:ext cx="5389857" cy="42408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2041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9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5444" y="546378"/>
            <a:ext cx="4516398" cy="564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95444" y="1408867"/>
            <a:ext cx="447080" cy="447080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2"/>
          <p:cNvSpPr/>
          <p:nvPr/>
        </p:nvSpPr>
        <p:spPr>
          <a:xfrm>
            <a:off x="1341239" y="1477089"/>
            <a:ext cx="3261836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Financial Behavior Patterns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341239" y="1878568"/>
            <a:ext cx="7107317" cy="59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Students with more pocket money consistently demonstrate higher spending behaviors.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95444" y="2872026"/>
            <a:ext cx="447080" cy="447080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1341239" y="2940248"/>
            <a:ext cx="3558421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Financial Control Mechanisms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341239" y="3341727"/>
            <a:ext cx="7107317" cy="59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Regular budgeting and expense tracking significantly improve financial control and decision-making.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95444" y="4335185"/>
            <a:ext cx="447080" cy="447080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1341239" y="4403407"/>
            <a:ext cx="2762726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Living Situation Impact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341239" y="4804886"/>
            <a:ext cx="7107317" cy="59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Independent living introduces additional financial pressures, requiring stronger money management skills.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95444" y="5798344"/>
            <a:ext cx="447080" cy="447080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1341239" y="5866567"/>
            <a:ext cx="236243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Savings Importance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341239" y="6268045"/>
            <a:ext cx="7107317" cy="59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Consistent saving habits correlate strongly with increased financial confidence and reduced stress.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95444" y="7087553"/>
            <a:ext cx="7753112" cy="59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These findings highlight the critical need for targeted financial education programs that address the unique challenges university students face.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16994"/>
            <a:ext cx="912375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</a:rPr>
              <a:t>Recommendations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1911906"/>
            <a:ext cx="555308" cy="55530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217" y="1979235"/>
            <a:ext cx="336471" cy="4206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65923" y="1996678"/>
            <a:ext cx="3293150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Launch financial literacy workshops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65923" y="2845951"/>
            <a:ext cx="3293150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Provide regular sessions covering budgeting, saving, and responsible spending habits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267563" y="1911906"/>
            <a:ext cx="555308" cy="55530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982" y="1979235"/>
            <a:ext cx="336471" cy="4206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69687" y="1996678"/>
            <a:ext cx="3293150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Promote budgeting apps/tools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069687" y="2845951"/>
            <a:ext cx="3293150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Recommend user-friendly applications to help students track expenses and plan finances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9671328" y="1911906"/>
            <a:ext cx="555308" cy="55530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0746" y="1979235"/>
            <a:ext cx="336471" cy="4206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473452" y="1996678"/>
            <a:ext cx="3293150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Provide financial counseling services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473452" y="2845951"/>
            <a:ext cx="3293150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Offer one-on-one guidance for students facing financial challenges or decisions</a:t>
            </a:r>
            <a:endParaRPr lang="en-US" sz="1900" dirty="0"/>
          </a:p>
        </p:txBody>
      </p:sp>
      <p:sp>
        <p:nvSpPr>
          <p:cNvPr id="15" name="Shape 10"/>
          <p:cNvSpPr/>
          <p:nvPr/>
        </p:nvSpPr>
        <p:spPr>
          <a:xfrm>
            <a:off x="863798" y="4820245"/>
            <a:ext cx="555308" cy="55530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217" y="4887575"/>
            <a:ext cx="336471" cy="4206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65923" y="4905018"/>
            <a:ext cx="5495092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Encourage part-time work/internships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665923" y="5754291"/>
            <a:ext cx="5495092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Create opportunities for students to gain work experience while earning income</a:t>
            </a:r>
            <a:endParaRPr lang="en-US" sz="1900" dirty="0"/>
          </a:p>
        </p:txBody>
      </p:sp>
      <p:sp>
        <p:nvSpPr>
          <p:cNvPr id="19" name="Shape 13"/>
          <p:cNvSpPr/>
          <p:nvPr/>
        </p:nvSpPr>
        <p:spPr>
          <a:xfrm>
            <a:off x="7469505" y="4820245"/>
            <a:ext cx="555308" cy="55530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8923" y="4887575"/>
            <a:ext cx="336471" cy="4206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271629" y="4905018"/>
            <a:ext cx="5495092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Customize allowances based on student needs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8271629" y="5754291"/>
            <a:ext cx="5495092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Develop flexible financial support systems accounting for different living situations</a:t>
            </a:r>
            <a:endParaRPr lang="en-US" sz="1900" dirty="0"/>
          </a:p>
        </p:txBody>
      </p:sp>
      <p:sp>
        <p:nvSpPr>
          <p:cNvPr id="23" name="Text 16"/>
          <p:cNvSpPr/>
          <p:nvPr/>
        </p:nvSpPr>
        <p:spPr>
          <a:xfrm>
            <a:off x="863798" y="6772275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Early financial education programs show strong correlation with healthier long-term financial habits and reduced stress among students.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821</Words>
  <Application>Microsoft Office PowerPoint</Application>
  <PresentationFormat>Custom</PresentationFormat>
  <Paragraphs>133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Source Sans Pro</vt:lpstr>
      <vt:lpstr>Montserrat Bold</vt:lpstr>
      <vt:lpstr>Aptos</vt:lpstr>
      <vt:lpstr>Wingdings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MALIK ABDULLAH</cp:lastModifiedBy>
  <cp:revision>2</cp:revision>
  <dcterms:created xsi:type="dcterms:W3CDTF">2025-05-26T16:00:21Z</dcterms:created>
  <dcterms:modified xsi:type="dcterms:W3CDTF">2025-05-26T17:31:09Z</dcterms:modified>
</cp:coreProperties>
</file>